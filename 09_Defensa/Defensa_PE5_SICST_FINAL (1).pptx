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UTEQ · Ingeniería de Requisitos · PE5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SICST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F7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PE5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21792" y="12984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F2E9"/>
                </a:solidFill>
              </a:rPr>
              <a:t>Integración, métricas y defensa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34840" y="1024128"/>
            <a:ext cx="7086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312A"/>
                </a:solidFill>
              </a:rPr>
              <a:t>Sistema Inteligente de Control y Seguimiento de Terapia Física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462272" y="2578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20"/>
                </a:solidFill>
              </a:rPr>
              <a:t>Equipo CMVZ Terapia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62272" y="2999232"/>
            <a:ext cx="6035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55F"/>
                </a:solidFill>
              </a:rPr>
              <a:t>Morán Pilaguano Frixon Fernando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655F"/>
                </a:solidFill>
              </a:rPr>
              <a:t>Contreras Chávez Kevin Germán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655F"/>
                </a:solidFill>
              </a:rPr>
              <a:t>Viteri García Jonathan Enrique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655F"/>
                </a:solidFill>
              </a:rPr>
              <a:t>Zambrano Moya Angelo Paul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62272" y="4617720"/>
            <a:ext cx="6172200" cy="0"/>
          </a:xfrm>
          <a:prstGeom prst="line">
            <a:avLst/>
          </a:prstGeom>
          <a:noFill/>
          <a:ln w="12700">
            <a:solidFill>
              <a:srgbClr val="CB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4828032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55F"/>
                </a:solidFill>
              </a:rPr>
              <a:t>Repositorio: github.com/AngeloP2114/Sistema_Terapia_Fisica_ISR401_2A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62272" y="5833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8078"/>
                </a:solidFill>
              </a:rPr>
              <a:t>Universidad Técnica Estatal de Quevedo · Ingeniería de Requerimientos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 · NECESIDAD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Problema y contexto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4251960"/>
          </a:xfrm>
          <a:prstGeom prst="rect">
            <a:avLst/>
          </a:prstGeom>
          <a:solidFill>
            <a:srgbClr val="A12A2A"/>
          </a:solidFill>
          <a:ln w="12700">
            <a:solidFill>
              <a:srgbClr val="A1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3619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Problema observado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38528"/>
            <a:ext cx="3172968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En la rehabilitación domiciliaria el fisioterapeuta pierde visibilidad sobre cómo se ejecutan los ejercicios. El paciente puede olvidar indicaciones, repetir una técnica incorrecta o reportar el progreso de forma subjetiva.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73152" cy="4251960"/>
          </a:xfrm>
          <a:prstGeom prst="rect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3619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Necesidad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1938528"/>
            <a:ext cx="3172968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Seguimiento remoto con evidencia objetiva, registro de dolor y fatiga, rutinas claras, alertas y reportes comparables, sin sustituir el criterio profesional.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371600"/>
            <a:ext cx="73152" cy="4251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3619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Respuesta propuesta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938528"/>
            <a:ext cx="3172968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SICST integra gestión clínica, rutinas, cámara, análisis de movimiento mediante IA, progreso, alertas, recomendaciones y control de privacidad.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5815584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8795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Dominio: salud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24912" y="5815584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A12A2A"/>
          </a:solidFill>
          <a:ln w="12700">
            <a:solidFill>
              <a:srgbClr val="A1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587959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Datos sensibles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21808" y="5815584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246C8B"/>
          </a:solidFill>
          <a:ln w="12700">
            <a:solidFill>
              <a:srgbClr val="246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5879592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 con supervisión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66760" y="5815584"/>
            <a:ext cx="3154680" cy="347472"/>
          </a:xfrm>
          <a:prstGeom prst="roundRect">
            <a:avLst>
              <a:gd name="adj" fmla="val 21053"/>
            </a:avLst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587959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realiza diagnóstico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2 · ALCANCE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Sistema y stakeholders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36592" y="2468880"/>
            <a:ext cx="2697480" cy="1508760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84064" y="27797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SICST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4920" y="3218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2EC"/>
                </a:solidFill>
              </a:rPr>
              <a:t>seguimiento terapéutico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6304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Paciente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43484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48056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Familiar / cuidador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64040" y="141732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37192" y="146304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Fisioterapeuta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64040" y="443484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37192" y="448056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Administrador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841248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4EFE0"/>
          </a:solidFill>
          <a:ln w="16510">
            <a:solidFill>
              <a:srgbClr val="C49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88696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Cámara / dispositivo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5968" y="5349240"/>
            <a:ext cx="3566160" cy="658368"/>
          </a:xfrm>
          <a:prstGeom prst="roundRect">
            <a:avLst>
              <a:gd name="adj" fmla="val 6944"/>
            </a:avLst>
          </a:prstGeom>
          <a:solidFill>
            <a:srgbClr val="F4EFE0"/>
          </a:solidFill>
          <a:ln w="16510">
            <a:solidFill>
              <a:srgbClr val="C49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539496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Módulo IA + notificaciones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1773936"/>
            <a:ext cx="4389120" cy="1517904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91640" y="4791456"/>
            <a:ext cx="4389120" cy="-1499616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469880" y="1773936"/>
            <a:ext cx="-4389120" cy="1517904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69880" y="4791456"/>
            <a:ext cx="-4389120" cy="-1499616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57900" y="1170432"/>
            <a:ext cx="22860" cy="2121408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99048" y="5678424"/>
            <a:ext cx="-18288" cy="-2386584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057400" y="6062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55F"/>
                </a:solidFill>
              </a:rPr>
              <a:t>Centro de rehabilitación y base de datos actúan como contexto e infraestructura del sistema.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3 · SEGURIDAD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Límites clínicos, legales y éticos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3A"/>
                </a:solidFill>
              </a:rPr>
              <a:t>Sí hace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3136392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Apoya seguimiento remoto.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Registra datos clínicos y terapéuticos.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Analiza postura y repeticiones.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Genera alertas y recomendaciones.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Mantiene evidencia y trazabilidad.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53312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2A2A"/>
                </a:solidFill>
              </a:rPr>
              <a:t>No hace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44568" y="1920240"/>
            <a:ext cx="3136392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No diagnostica enfermedades.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No prescribe tratamientos autónomos.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No reemplaza valoración presencial.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No atiende emergencias.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No actúa sin autorización para cámara.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353312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A20"/>
                </a:solidFill>
              </a:rPr>
              <a:t>Controles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7888" y="1920240"/>
            <a:ext cx="3136392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Consentimiento y revocatoria.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Acceso por roles.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Minimización y finalidad.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Supervisión del fisioterapeuta.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Advertencia de uso académico.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4 · MÉTODO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Proceso de Ingeniería de Requisitos PE1–PE5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914400" cy="914400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36776" y="2286000"/>
            <a:ext cx="11612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6888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Contexto y elicitación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914400" cy="914400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3904" y="2286000"/>
            <a:ext cx="11612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14016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ERS + evidencia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0056" y="1828800"/>
            <a:ext cx="914400" cy="914400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71032" y="2286000"/>
            <a:ext cx="11612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81144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Trazabilidad + MVP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1828800"/>
            <a:ext cx="914400" cy="914400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11612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48272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Fagan + CCB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54312" y="1828800"/>
            <a:ext cx="914400" cy="914400"/>
          </a:xfrm>
          <a:prstGeom prst="ellipse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12A"/>
                </a:solidFill>
              </a:rPr>
              <a:t>Integración + métricas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251960"/>
            <a:ext cx="10332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251960"/>
            <a:ext cx="73152" cy="1261872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4416552"/>
            <a:ext cx="9985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Decisión metodológica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15568" y="4818888"/>
            <a:ext cx="998524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El cierre PE5 no agrega requisitos “de ejemplo”: integra evidencia real, corrige defectos, sincroniza artefactos y vuelve a medir la calidad del 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5 · ESPECIFICACIÓN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Línea base del ERS y correcciones PE5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45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6B3A"/>
                </a:solidFill>
              </a:rPr>
              <a:t>33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11680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12A"/>
                </a:solidFill>
              </a:rPr>
              <a:t>RF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1416" y="141732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545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6B3A"/>
                </a:solidFill>
              </a:rPr>
              <a:t>15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797296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12A"/>
                </a:solidFill>
              </a:rPr>
              <a:t>RNF generales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41732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1624" y="1545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6B3A"/>
                </a:solidFill>
              </a:rPr>
              <a:t>15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582912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12A"/>
                </a:solidFill>
              </a:rPr>
              <a:t>Restricciones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4EFE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626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49A20"/>
                </a:solidFill>
              </a:rPr>
              <a:t>10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011680" y="31181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12A"/>
                </a:solidFill>
              </a:rPr>
              <a:t>Casos de uso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71416" y="28346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4EFE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9626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49A20"/>
                </a:solidFill>
              </a:rPr>
              <a:t>33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797296" y="31181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12A"/>
                </a:solidFill>
              </a:rPr>
              <a:t>Historias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57032" y="28346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F4EFE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29626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sp>
        <p:nvSpPr>
          <p:cNvPr id="21" name="Text 19"/>
          <p:cNvSpPr/>
          <p:nvPr/>
        </p:nvSpPr>
        <p:spPr>
          <a:xfrm>
            <a:off x="9582912" y="31181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RNF de IA</a:t>
            </a:r>
          </a:p>
        </p:txBody>
      </p:sp>
      <p:sp>
        <p:nvSpPr>
          <p:cNvPr id="22" name="Text 20"/>
          <p:cNvSpPr/>
          <p:nvPr/>
        </p:nvSpPr>
        <p:spPr>
          <a:xfrm>
            <a:off x="713232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Cambios críticos para la versión PE5</a:t>
            </a:r>
          </a:p>
        </p:txBody>
      </p:sp>
      <p:sp>
        <p:nvSpPr>
          <p:cNvPr id="23" name="Text 21"/>
          <p:cNvSpPr/>
          <p:nvPr/>
        </p:nvSpPr>
        <p:spPr>
          <a:xfrm>
            <a:off x="713232" y="4892040"/>
            <a:ext cx="10698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RNF-14 auditabilidad y RNF-15 recuperabilidad.</a:t>
            </a:r>
          </a:p>
          <a:p>
            <a:r>
              <a:t>CU-09 gestión de usuarios/roles y CU-10 consulta autorizada.</a:t>
            </a:r>
          </a:p>
          <a:p>
            <a:r>
              <a:t>33 HU + BDD + CP formalizados; 58 trazas en la matriz final.</a:t>
            </a:r>
          </a:p>
          <a:p>
            <a:r>
              <a:t>Coherencia única entre conteos, UML, matriz, métricas y conclusiones.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6 · DISEÑO TRAZABLE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Modelos UML y arquitectura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8191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53312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10 CU detallados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02152" y="141732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158191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6824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15384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Secuencia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Registro · rutina · cámara · alertas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41732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158191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6824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77456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Actividad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Evaluación y ejecución remota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26296" y="141732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90888" y="158191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6824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39528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Estados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09176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Tratamiento + alertas + consentimiento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68503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53312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Clases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23 clases de dominio</a:t>
            </a:r>
          </a:p>
        </p:txBody>
      </p:sp>
      <p:sp>
        <p:nvSpPr>
          <p:cNvPr id="29" name="Shape 27"/>
          <p:cNvSpPr/>
          <p:nvPr/>
        </p:nvSpPr>
        <p:spPr>
          <a:xfrm>
            <a:off x="3502152" y="352044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66744" y="368503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15384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Componentes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85032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Frontend · API · IA · BD · notificaciones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64224" y="352044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3685032"/>
            <a:ext cx="420624" cy="42062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77456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Despliegue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47104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Dispositivos + servidores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26296" y="3520440"/>
            <a:ext cx="2578608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90888" y="3685032"/>
            <a:ext cx="420624" cy="420624"/>
          </a:xfrm>
          <a:prstGeom prst="ellipse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0888" y="378561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939528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2A"/>
                </a:solidFill>
              </a:rPr>
              <a:t>DFD PE5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09176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55F"/>
                </a:solidFill>
              </a:rPr>
              <a:t>9 procesos de flujo de datos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7 · CONTROL DE CAMBIOS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Validación: inspección Fagan y CCB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4672" y="1508760"/>
            <a:ext cx="1874520" cy="1874520"/>
          </a:xfrm>
          <a:prstGeom prst="ellipse">
            <a:avLst/>
          </a:prstGeom>
          <a:solidFill>
            <a:srgbClr val="F4EFE0"/>
          </a:solidFill>
          <a:ln w="25400">
            <a:solidFill>
              <a:srgbClr val="C49A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647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9A20"/>
                </a:solidFill>
              </a:rPr>
              <a:t>16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24128" y="24871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12A"/>
                </a:solidFill>
              </a:rPr>
              <a:t>defectos consolidados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63240" y="1417320"/>
            <a:ext cx="73152" cy="1828800"/>
          </a:xfrm>
          <a:prstGeom prst="rect">
            <a:avLst/>
          </a:prstGeom>
          <a:solidFill>
            <a:srgbClr val="A12A2A"/>
          </a:solidFill>
          <a:ln w="12700">
            <a:solidFill>
              <a:srgbClr val="A1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8191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12 mayores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64408" y="1984248"/>
            <a:ext cx="21671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Afectaban consistencia, trazabilidad, criterios de aceptación y RNF.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14173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1417320"/>
            <a:ext cx="73152" cy="1828800"/>
          </a:xfrm>
          <a:prstGeom prst="rect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158191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4 menores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07608" y="1984248"/>
            <a:ext cx="21671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Correcciones de forma, precisión y armonización.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49640" y="14173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417320"/>
            <a:ext cx="73152" cy="182880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0808" y="158191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3 RFC aprobados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50808" y="1984248"/>
            <a:ext cx="21671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RF-33 · RNF-13 · RES-15.</a:t>
            </a:r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Ciclo de control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6177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91A6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66344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12A"/>
                </a:solidFill>
              </a:rPr>
              <a:t>Inspección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4956048"/>
            <a:ext cx="4754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63240" y="46177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91A6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6392" y="466344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12A"/>
                </a:solidFill>
              </a:rPr>
              <a:t>Registro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4956048"/>
            <a:ext cx="4754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12080" y="46177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91A6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466344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12A"/>
                </a:solidFill>
              </a:rPr>
              <a:t>Corrección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9712" y="4956048"/>
            <a:ext cx="4754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60920" y="46177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91A6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466344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12A"/>
                </a:solidFill>
              </a:rPr>
              <a:t>CCB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88552" y="4956048"/>
            <a:ext cx="475488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09760" y="461772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E8F2EC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2912" y="466344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312A"/>
                </a:solidFill>
              </a:rPr>
              <a:t>Reinspección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M6 = 0/58 = 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8 · CADENA VERIFICABLE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Trazabilidad end-to-end según la rúbrica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4EFE0"/>
          </a:solidFill>
          <a:ln w="16510">
            <a:solidFill>
              <a:srgbClr val="C49A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</a:t>
            </a:r>
          </a:p>
        </p:txBody>
      </p:sp>
      <p:sp>
        <p:nvSpPr>
          <p:cNvPr id="6" name="Shape 4"/>
          <p:cNvSpPr/>
          <p:nvPr/>
        </p:nvSpPr>
        <p:spPr>
          <a:xfrm>
            <a:off x="1664208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47088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RF / RNF</a:t>
            </a:r>
          </a:p>
        </p:txBody>
      </p:sp>
      <p:sp>
        <p:nvSpPr>
          <p:cNvPr id="9" name="Shape 7"/>
          <p:cNvSpPr/>
          <p:nvPr/>
        </p:nvSpPr>
        <p:spPr>
          <a:xfrm>
            <a:off x="3099816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82696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CU</a:t>
            </a:r>
          </a:p>
        </p:txBody>
      </p:sp>
      <p:sp>
        <p:nvSpPr>
          <p:cNvPr id="12" name="Shape 10"/>
          <p:cNvSpPr/>
          <p:nvPr/>
        </p:nvSpPr>
        <p:spPr>
          <a:xfrm>
            <a:off x="4535424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18304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Clase UML</a:t>
            </a:r>
          </a:p>
        </p:txBody>
      </p:sp>
      <p:sp>
        <p:nvSpPr>
          <p:cNvPr id="15" name="Shape 13"/>
          <p:cNvSpPr/>
          <p:nvPr/>
        </p:nvSpPr>
        <p:spPr>
          <a:xfrm>
            <a:off x="5971032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53912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Estado</a:t>
            </a:r>
          </a:p>
        </p:txBody>
      </p:sp>
      <p:sp>
        <p:nvSpPr>
          <p:cNvPr id="18" name="Shape 16"/>
          <p:cNvSpPr/>
          <p:nvPr/>
        </p:nvSpPr>
        <p:spPr>
          <a:xfrm>
            <a:off x="7406640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BDD</a:t>
            </a:r>
          </a:p>
        </p:txBody>
      </p:sp>
      <p:sp>
        <p:nvSpPr>
          <p:cNvPr id="21" name="Shape 19"/>
          <p:cNvSpPr/>
          <p:nvPr/>
        </p:nvSpPr>
        <p:spPr>
          <a:xfrm>
            <a:off x="8842248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25128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CP</a:t>
            </a:r>
          </a:p>
        </p:txBody>
      </p:sp>
      <p:sp>
        <p:nvSpPr>
          <p:cNvPr id="24" name="Shape 22"/>
          <p:cNvSpPr/>
          <p:nvPr/>
        </p:nvSpPr>
        <p:spPr>
          <a:xfrm>
            <a:off x="10277856" y="2313432"/>
            <a:ext cx="182880" cy="0"/>
          </a:xfrm>
          <a:prstGeom prst="line">
            <a:avLst/>
          </a:prstGeom>
          <a:noFill/>
          <a:ln w="22860">
            <a:solidFill>
              <a:srgbClr val="6B827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60736" y="192024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4EFE0"/>
          </a:solidFill>
          <a:ln w="16510">
            <a:solidFill>
              <a:srgbClr val="C49A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965960"/>
            <a:ext cx="10881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Complementos</a:t>
            </a:r>
          </a:p>
        </p:txBody>
      </p:sp>
      <p:sp>
        <p:nvSpPr>
          <p:cNvPr id="27" name="Shape 25"/>
          <p:cNvSpPr/>
          <p:nvPr/>
        </p:nvSpPr>
        <p:spPr>
          <a:xfrm>
            <a:off x="658368" y="33375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" y="3337560"/>
            <a:ext cx="73152" cy="2011680"/>
          </a:xfrm>
          <a:prstGeom prst="rect">
            <a:avLst/>
          </a:prstGeom>
          <a:solidFill>
            <a:srgbClr val="A12A2A"/>
          </a:solidFill>
          <a:ln w="12700">
            <a:solidFill>
              <a:srgbClr val="A1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50215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Regla 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" y="3904488"/>
            <a:ext cx="31729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La cadena mínima exigida es Fuente → RF/RNF → CU → Clase UML → Estado → BDD → CP. Cada ID debe resolver a un artefacto existente.</a:t>
            </a:r>
          </a:p>
        </p:txBody>
      </p:sp>
      <p:sp>
        <p:nvSpPr>
          <p:cNvPr id="31" name="Shape 29"/>
          <p:cNvSpPr/>
          <p:nvPr/>
        </p:nvSpPr>
        <p:spPr>
          <a:xfrm>
            <a:off x="4343400" y="33375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43400" y="3337560"/>
            <a:ext cx="73152" cy="201168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50215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Regla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44568" y="3904488"/>
            <a:ext cx="31729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DFD, HU, prioridad y estado de traza se conservan como campos complementarios. Los RNF transversales usan N/A en HU cuando corresponde.</a:t>
            </a:r>
          </a:p>
        </p:txBody>
      </p:sp>
      <p:sp>
        <p:nvSpPr>
          <p:cNvPr id="35" name="Shape 33"/>
          <p:cNvSpPr/>
          <p:nvPr/>
        </p:nvSpPr>
        <p:spPr>
          <a:xfrm>
            <a:off x="8028432" y="33375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28432" y="3337560"/>
            <a:ext cx="73152" cy="2011680"/>
          </a:xfrm>
          <a:prstGeom prst="rect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50215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Regla 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0" y="3904488"/>
            <a:ext cx="31729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58 trazas totales: 33 RF + 15 RNF + 10 RNF-IA. M4: 33/33 RF hacia adelante y 33/33 con fuente; 0 huérfanos y 0 cadenas rotas.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9 · SEIS MÉTRICAS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Auditoría de calidad del ERS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89888"/>
          <a:ext cx="10881360" cy="4160520"/>
        </p:xfrm>
        <a:graphic>
          <a:graphicData uri="http://schemas.openxmlformats.org/drawingml/2006/table">
            <a:tbl>
              <a:tblPr/>
              <a:tblGrid>
                <a:gridCol w="777240"/>
                <a:gridCol w="2423160"/>
                <a:gridCol w="3977640"/>
                <a:gridCol w="3337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31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31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Métrica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31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Referencia PE5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31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Resultado final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M1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Completitud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M1a ≥95%; M1b/M1c =100%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M1a 100%; CU 100%; actores 100%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M2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Consistencia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≥0,98 y 0 conflictos abiertos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1,00 · 0/10 conflictos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M3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Verificabilidad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≥90%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58/58 = 100%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M4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Trazabilidad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adelante ≥90% / atrás 100%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33/33 = 100% / 100%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M5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Modificabilidad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promedio ≤3 requisitos afectados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13/5 = 2,60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/>
                        <a:t>M6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Corrección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≤0,05 defectos residuales/requisito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/>
                        <a:t>0/58 = 0,000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1389888"/>
            <a:ext cx="10881360" cy="475488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527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36192" y="1527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Métrica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95928" y="1527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Referencia PE5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73568" y="1527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Resultado final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57424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Conteos auditables sobre la misma línea base final: matriz, BDD, pares M2, muestra M5 y re-inspección Fagan.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10 · REQUISITOS DE 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Componente IA 1: análisis de movimiento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452628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7904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Función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317296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Entrada: frames de cámara + ejercicio esperado.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Salida: postura, repetición válida/no válida y retroalimentación.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Fallback: si la imagen no es suficiente, no se valida la repetición y se solicita recolocación.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C8B"/>
                </a:solidFill>
              </a:rPr>
              <a:t>Mínimos verificables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RF: RF-21, RF-22, RF-23; RF-24/RF-25 complementan.</a:t>
            </a:r>
          </a:p>
          <a:p>
            <a:r>
              <a:t>Rendimiento: ≥15 FPS; conteo ≥85%; latencia p95 ≤2 s.</a:t>
            </a:r>
          </a:p>
          <a:p>
            <a:r>
              <a:t>Equidad: brecha F1 por edad ≤0,05 y brecha de recall por movilidad ≤0,05.</a:t>
            </a:r>
          </a:p>
          <a:p>
            <a:r>
              <a:t>XAI: ≤60 palabras, ≤2 s, claridad media ≥4/5.</a:t>
            </a:r>
          </a:p>
          <a:p>
            <a:r>
              <a:t>Supervisión humana obligatoria.</a:t>
            </a:r>
          </a:p>
        </p:txBody>
      </p:sp>
      <p:sp>
        <p:nvSpPr>
          <p:cNvPr id="11" name="Shape 9"/>
          <p:cNvSpPr/>
          <p:nvPr/>
        </p:nvSpPr>
        <p:spPr>
          <a:xfrm>
            <a:off x="804672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A20"/>
                </a:solidFill>
              </a:rPr>
              <a:t>Datos y monitoreo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4788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Origen y consentimiento documentados.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Separación entrenamiento / prueba.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Calidad de iluminación y visibilidad.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Monitoreo de deriva.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Reentrenamiento solo con versión y evaluación.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11 · REQUISITOS DE 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Componente IA 2: apoyo a alertas y recomendaciones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452628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7904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Función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317296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Entrada: cumplimiento, dolor, fatiga, errores recurrentes, sesiones y alertas previas.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Salida: priorización de riesgo y recomendación para revisión del fisioterapeuta.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8655F"/>
                </a:solidFill>
              </a:rPr>
              <a:t>Nunca prescribe ni modifica un tratamiento por sí solo.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C8B"/>
                </a:solidFill>
              </a:rPr>
              <a:t>Mínimos verificables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RF: RF-25, RF-28, RF-29; RF-33 mantiene estado.</a:t>
            </a:r>
          </a:p>
          <a:p>
            <a:r>
              <a:t>Precision ≥0,80 y recall ≥0,80.</a:t>
            </a:r>
          </a:p>
          <a:p>
            <a:r>
              <a:t>Latencia p95 ≤1 s.</a:t>
            </a:r>
          </a:p>
          <a:p>
            <a:r>
              <a:t>Equidad: brechas TPR/FPR ≤0,05.</a:t>
            </a:r>
          </a:p>
          <a:p>
            <a:r>
              <a:t>XAI: hasta 3 factores, advertencia no diagnóstica, ≤60 palabras, claridad ≥4/5.</a:t>
            </a:r>
          </a:p>
        </p:txBody>
      </p:sp>
      <p:sp>
        <p:nvSpPr>
          <p:cNvPr id="11" name="Shape 9"/>
          <p:cNvSpPr/>
          <p:nvPr/>
        </p:nvSpPr>
        <p:spPr>
          <a:xfrm>
            <a:off x="804672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A20"/>
                </a:solidFill>
              </a:rPr>
              <a:t>Riesgo y ética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4788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Datos de salud: tratamiento reforzado.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Base legal y finalidad explícitas.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Minimización y pseudonimización.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Explicación al usuario afectado.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8655F"/>
                </a:solidFill>
              </a:rPr>
              <a:t>Control final del fisioterapeuta.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12 · EVIDENCIA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Evidencia de campo y ejecución controlada de explicabilidad</a:t>
            </a:r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73152" cy="1965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3619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Trabajo de campo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938528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Entrevistas, consentimientos, fotografías, documentos y walkthrough del proyecto se conservan como evidencia de campo con rutas verificables.</a:t>
            </a:r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371600"/>
            <a:ext cx="73152" cy="1965960"/>
          </a:xfrm>
          <a:prstGeom prst="rect">
            <a:avLst/>
          </a:prstGeom>
          <a:solidFill>
            <a:srgbClr val="C49A20"/>
          </a:solidFill>
          <a:ln w="12700">
            <a:solidFill>
              <a:srgbClr val="C49A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53619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2A"/>
                </a:solidFill>
              </a:rPr>
              <a:t>Cuestionario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98848" y="1938528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La línea base final utiliza 31 registros válidos: 20 pacientes/expacientes, 8 familiares/cuidadores y 3 fisioterapeutas. El archivo bruto se conserva separado.</a:t>
            </a:r>
          </a:p>
        </p:txBody>
      </p:sp>
      <p:sp>
        <p:nvSpPr>
          <p:cNvPr id="12" name="Shape 10"/>
          <p:cNvSpPr/>
          <p:nvPr/>
        </p:nvSpPr>
        <p:spPr>
          <a:xfrm>
            <a:off x="7936992" y="137160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970">
            <a:solidFill>
              <a:srgbClr val="D9E1DC"/>
            </a:solidFill>
            <a:prstDash val="solid"/>
          </a:ln>
          <a:effectLst>
            <a:outerShdw sx="100000" sy="100000" kx="0" ky="0" algn="bl" rotWithShape="0" blurRad="12700" dist="50800" dir="2700000">
              <a:srgbClr val="C9D2C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371600"/>
            <a:ext cx="73152" cy="1965960"/>
          </a:xfrm>
          <a:prstGeom prst="rect">
            <a:avLst/>
          </a:prstGeom>
          <a:solidFill>
            <a:srgbClr val="A12A2A"/>
          </a:solidFill>
          <a:ln w="12700">
            <a:solidFill>
              <a:srgbClr val="A1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53619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Ejecución controlada</a:t>
            </a:r>
          </a:p>
        </p:txBody>
      </p:sp>
      <p:sp>
        <p:nvSpPr>
          <p:cNvPr id="15" name="Text 13"/>
          <p:cNvSpPr/>
          <p:nvPr/>
        </p:nvSpPr>
        <p:spPr>
          <a:xfrm>
            <a:off x="8138160" y="1938528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t>Simulación controlada con datos sintéticos, separada de la evidencia humana: 2 rondas × 6 perfiles. Media Q01–Q11: 3,58 → 4,65; mejora en claridad, comprensión, control y satisfacción.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Flujo reproducible del ejercicio</a:t>
            </a:r>
          </a:p>
        </p:txBody>
      </p:sp>
      <p:sp>
        <p:nvSpPr>
          <p:cNvPr id="17" name="Shape 15"/>
          <p:cNvSpPr/>
          <p:nvPr/>
        </p:nvSpPr>
        <p:spPr>
          <a:xfrm>
            <a:off x="7132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4EFE0"/>
          </a:solidFill>
          <a:ln w="16510">
            <a:solidFill>
              <a:srgbClr val="C49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Definir Q01–Q12</a:t>
            </a:r>
          </a:p>
        </p:txBody>
      </p:sp>
      <p:sp>
        <p:nvSpPr>
          <p:cNvPr id="19" name="Shape 17"/>
          <p:cNvSpPr/>
          <p:nvPr/>
        </p:nvSpPr>
        <p:spPr>
          <a:xfrm>
            <a:off x="2359152" y="5001768"/>
            <a:ext cx="146304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420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Generar ronda 1</a:t>
            </a:r>
          </a:p>
        </p:txBody>
      </p:sp>
      <p:sp>
        <p:nvSpPr>
          <p:cNvPr id="22" name="Shape 20"/>
          <p:cNvSpPr/>
          <p:nvPr/>
        </p:nvSpPr>
        <p:spPr>
          <a:xfrm>
            <a:off x="4187952" y="5001768"/>
            <a:ext cx="146304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708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Analizar CSV</a:t>
            </a:r>
          </a:p>
        </p:txBody>
      </p:sp>
      <p:sp>
        <p:nvSpPr>
          <p:cNvPr id="25" name="Shape 23"/>
          <p:cNvSpPr/>
          <p:nvPr/>
        </p:nvSpPr>
        <p:spPr>
          <a:xfrm>
            <a:off x="6016752" y="5001768"/>
            <a:ext cx="146304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996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Refinar explicación</a:t>
            </a:r>
          </a:p>
        </p:txBody>
      </p:sp>
      <p:sp>
        <p:nvSpPr>
          <p:cNvPr id="28" name="Shape 26"/>
          <p:cNvSpPr/>
          <p:nvPr/>
        </p:nvSpPr>
        <p:spPr>
          <a:xfrm>
            <a:off x="7845552" y="5001768"/>
            <a:ext cx="146304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284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Generar ronda 2</a:t>
            </a:r>
          </a:p>
        </p:txBody>
      </p:sp>
      <p:sp>
        <p:nvSpPr>
          <p:cNvPr id="31" name="Shape 29"/>
          <p:cNvSpPr/>
          <p:nvPr/>
        </p:nvSpPr>
        <p:spPr>
          <a:xfrm>
            <a:off x="9674352" y="5001768"/>
            <a:ext cx="146304" cy="0"/>
          </a:xfrm>
          <a:prstGeom prst="line">
            <a:avLst/>
          </a:prstGeom>
          <a:noFill/>
          <a:ln w="22860">
            <a:solidFill>
              <a:srgbClr val="77908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57232" y="4645152"/>
            <a:ext cx="16276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6510">
            <a:solidFill>
              <a:srgbClr val="0B6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30384" y="4690872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Reproducir script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13 · GESTIÓN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Repositorio reproducible y línea 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3A"/>
                </a:solidFill>
              </a:rPr>
              <a:t>LaTeX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main.tex sincronizado.</a:t>
            </a:r>
          </a:p>
          <a:p>
            <a:r>
              <a:t>references.bib.</a:t>
            </a:r>
          </a:p>
          <a:p>
            <a:r>
              <a:t>figuras editables.</a:t>
            </a:r>
          </a:p>
          <a:p>
            <a:r>
              <a:t>PDF compilado con XeLaTeX.</a:t>
            </a:r>
          </a:p>
          <a:p>
            <a:r>
              <a:t>53 páginas totales; cuerpo técnico supera 40 páginas.</a:t>
            </a:r>
          </a:p>
        </p:txBody>
      </p:sp>
      <p:sp>
        <p:nvSpPr>
          <p:cNvPr id="7" name="Shape 5"/>
          <p:cNvSpPr/>
          <p:nvPr/>
        </p:nvSpPr>
        <p:spPr>
          <a:xfrm>
            <a:off x="434340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A20"/>
                </a:solidFill>
              </a:rPr>
              <a:t>README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4456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README de compilación preparado.</a:t>
            </a:r>
          </a:p>
          <a:p>
            <a:r>
              <a:t>Compilador: XeLaTeX.</a:t>
            </a:r>
          </a:p>
          <a:p>
            <a:r>
              <a:t>Comando: latexmk -xelatex.</a:t>
            </a:r>
          </a:p>
          <a:p>
            <a:r>
              <a:t>Archivo principal y dependencias declaradas.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C8B"/>
                </a:solidFill>
              </a:rPr>
              <a:t>Git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788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Siguiente cierre: subir paquete limpio.</a:t>
            </a:r>
          </a:p>
          <a:p>
            <a:r>
              <a:t>Commits descriptivos y distribuidos.</a:t>
            </a:r>
          </a:p>
          <a:p>
            <a:r>
              <a:t>Compilar desde clon limpio.</a:t>
            </a:r>
          </a:p>
          <a:p>
            <a:r>
              <a:t>Registrar SHA definitivo y tag de línea base.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14 · APRENDIZAJE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Retrospectiva Start–Stop–Continue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3A"/>
                </a:solidFill>
              </a:rPr>
              <a:t>START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Auditar trazabilidad antes de cerrar cada versión.</a:t>
            </a:r>
          </a:p>
          <a:p>
            <a:r>
              <a:t>Compilar desde clon limpio y guardar el log.</a:t>
            </a:r>
          </a:p>
          <a:p>
            <a:r>
              <a:t>Re-medir M1–M6 cuando cambie la línea base.</a:t>
            </a:r>
          </a:p>
        </p:txBody>
      </p:sp>
      <p:sp>
        <p:nvSpPr>
          <p:cNvPr id="7" name="Shape 5"/>
          <p:cNvSpPr/>
          <p:nvPr/>
        </p:nvSpPr>
        <p:spPr>
          <a:xfrm>
            <a:off x="434340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2A2A"/>
                </a:solidFill>
              </a:rPr>
              <a:t>STOP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4456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Crear IDs que no existen como artefactos.</a:t>
            </a:r>
          </a:p>
          <a:p>
            <a:r>
              <a:t>Subir PDFs sin sus fuentes editables.</a:t>
            </a:r>
          </a:p>
          <a:p>
            <a:r>
              <a:t>Mezclar la simulación controlada con la evidencia de campo.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353312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5179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9A20"/>
                </a:solidFill>
              </a:rPr>
              <a:t>CONTINUE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7888" y="1920240"/>
            <a:ext cx="3136392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Trabajo de campo con evidencia verificable.</a:t>
            </a:r>
          </a:p>
          <a:p>
            <a:r>
              <a:t>Restricciones clínicas, privacidad y supervisión humana.</a:t>
            </a:r>
          </a:p>
          <a:p>
            <a:r>
              <a:t>Fagan, CCB y trazabilidad para justificar cambios.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49A20"/>
                </a:solidFill>
              </a:rPr>
              <a:t>15 · 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312A"/>
                </a:solidFill>
              </a:rPr>
              <a:t>Conclusiones integradoras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1077163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544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3A"/>
                </a:solidFill>
              </a:rPr>
              <a:t>PE1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490472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t>La elicitación y la evidencia de campo delimitan un problema real de seguimiento terapéutico.</a:t>
            </a:r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10771632" cy="713232"/>
          </a:xfrm>
          <a:prstGeom prst="roundRect">
            <a:avLst>
              <a:gd name="adj" fmla="val 5128"/>
            </a:avLst>
          </a:prstGeom>
          <a:solidFill>
            <a:srgbClr val="F4EFE0"/>
          </a:solidFill>
          <a:ln w="12700">
            <a:solidFill>
              <a:srgbClr val="E5D6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96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3A"/>
                </a:solidFill>
              </a:rPr>
              <a:t>PE2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432304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t>La línea base final consolida 33 RF, 15 RNF, 15 restricciones, 10 CU y 33 HU.</a:t>
            </a:r>
          </a:p>
        </p:txBody>
      </p:sp>
      <p:sp>
        <p:nvSpPr>
          <p:cNvPr id="10" name="Shape 8"/>
          <p:cNvSpPr/>
          <p:nvPr/>
        </p:nvSpPr>
        <p:spPr>
          <a:xfrm>
            <a:off x="713232" y="3255264"/>
            <a:ext cx="1077163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381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3A"/>
                </a:solidFill>
              </a:rPr>
              <a:t>PE3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3374136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t>La matriz cumple la cadena de la rúbrica: 58 trazas, 33/33 RF completos y 0 huérfanos.</a:t>
            </a:r>
          </a:p>
        </p:txBody>
      </p:sp>
      <p:sp>
        <p:nvSpPr>
          <p:cNvPr id="13" name="Shape 11"/>
          <p:cNvSpPr/>
          <p:nvPr/>
        </p:nvSpPr>
        <p:spPr>
          <a:xfrm>
            <a:off x="713232" y="4197096"/>
            <a:ext cx="10771632" cy="713232"/>
          </a:xfrm>
          <a:prstGeom prst="roundRect">
            <a:avLst>
              <a:gd name="adj" fmla="val 5128"/>
            </a:avLst>
          </a:prstGeom>
          <a:solidFill>
            <a:srgbClr val="F4EFE0"/>
          </a:solidFill>
          <a:ln w="12700">
            <a:solidFill>
              <a:srgbClr val="E5D6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3799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B3A"/>
                </a:solidFill>
              </a:rPr>
              <a:t>PE4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4315968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t>Fagan + CCB cierran 16 defectos y formalizan RF-33, RNF-13 y RES-15.</a:t>
            </a:r>
          </a:p>
        </p:txBody>
      </p:sp>
      <p:sp>
        <p:nvSpPr>
          <p:cNvPr id="16" name="Shape 14"/>
          <p:cNvSpPr/>
          <p:nvPr/>
        </p:nvSpPr>
        <p:spPr>
          <a:xfrm>
            <a:off x="713232" y="5138928"/>
            <a:ext cx="1077163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3218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20"/>
                </a:solidFill>
              </a:rPr>
              <a:t>PE5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5257800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t>PE5 integra IA verificable, M1–M6 auditables y documentación reproducible; GitHub cerrará SHA/tag.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312A"/>
                </a:solidFill>
              </a:rPr>
              <a:t>Preguntas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931920" y="2395728"/>
            <a:ext cx="4343400" cy="0"/>
          </a:xfrm>
          <a:prstGeom prst="line">
            <a:avLst/>
          </a:prstGeom>
          <a:noFill/>
          <a:ln w="27940">
            <a:solidFill>
              <a:srgbClr val="C49A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926080"/>
            <a:ext cx="8549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Responder con evidencia concreta: ERS final, matriz, M1–M6, UML/DFD, Fagan/CCB, IA, anexos o historial Git.</a:t>
            </a:r>
          </a:p>
        </p:txBody>
      </p:sp>
      <p:sp>
        <p:nvSpPr>
          <p:cNvPr id="5" name="Shape 3"/>
          <p:cNvSpPr/>
          <p:nvPr/>
        </p:nvSpPr>
        <p:spPr>
          <a:xfrm>
            <a:off x="3840480" y="4343400"/>
            <a:ext cx="4526280" cy="347472"/>
          </a:xfrm>
          <a:prstGeom prst="roundRect">
            <a:avLst>
              <a:gd name="adj" fmla="val 21053"/>
            </a:avLst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13632" y="4407408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 exposición · 10 min preguntas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9A20"/>
                </a:solidFill>
              </a:rPr>
              <a:t>SICST · Equipo CMVZ Terapia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6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Universidad Técnica Estatal de Quevedo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PE5 - Sistema Inteligente de Control y Seguimiento de Terapia Física</dc:title>
  <dc:subject>Defensa PE5 - SICST</dc:subject>
  <dc:creator>Equipo CMVZ Terapia</dc:creator>
  <cp:lastModifiedBy>Equipo CMVZ Terapia</cp:lastModifiedBy>
  <cp:revision>1</cp:revision>
  <dcterms:created xsi:type="dcterms:W3CDTF">2026-08-23T21:10:20Z</dcterms:created>
  <dcterms:modified xsi:type="dcterms:W3CDTF">2026-08-23T21:10:20Z</dcterms:modified>
</cp:coreProperties>
</file>